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145de3632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145de3632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145de3632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145de3632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145de363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145de363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145de363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145de363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145de363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145de363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145de363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145de363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145de3632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145de3632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145de3632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145de3632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145de363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145de363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145de3632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145de3632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145de3632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145de363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145de3632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145de3632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145de3632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145de3632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175e31b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175e31b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opendatabay.com/data/dataset/a992ac4c-6b16-4f3a-a006-ffc758a8e2e2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4800"/>
              <a:t>LOL min 10 win predict</a:t>
            </a:r>
            <a:endParaRPr b="1" i="1" sz="480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96558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/>
              <a:t>David Lajas</a:t>
            </a:r>
            <a:endParaRPr b="1" sz="2500"/>
          </a:p>
        </p:txBody>
      </p:sp>
      <p:pic>
        <p:nvPicPr>
          <p:cNvPr id="87" name="Google Shape;87;p13" title="League_of_Legends_2019_vector.sv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6725" y="3175450"/>
            <a:ext cx="2564325" cy="9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800"/>
              <a:t>Introducción y Objetivo</a:t>
            </a:r>
            <a:endParaRPr sz="2900"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r>
              <a:rPr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El proyecto utiliza datos de partidas de alto nivel (Diamante I) en los primeros 10 minutos de juego.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r>
              <a:rPr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Desarrollar un modelo de clasificación capaz de predecir qué equipo ganará la partida y las probabilidades que tiene se hacerlo, basándose únicamente en el estado inicial del juego.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800"/>
              <a:t>Dataset</a:t>
            </a:r>
            <a:endParaRPr b="1" i="1" sz="2800"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1229875"/>
            <a:ext cx="8520600" cy="35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Fuente</a:t>
            </a:r>
            <a:r>
              <a:rPr lang="es" sz="1900">
                <a:solidFill>
                  <a:schemeClr val="dk1"/>
                </a:solidFill>
              </a:rPr>
              <a:t>: </a:t>
            </a:r>
            <a:r>
              <a:rPr lang="es" sz="1900" u="sng">
                <a:solidFill>
                  <a:schemeClr val="hlink"/>
                </a:solidFill>
                <a:hlinkClick r:id="rId3"/>
              </a:rPr>
              <a:t>https://www.opendatabay.com/data/dataset/a992ac4c-6b16-4f3a-a006-ffc758a8e2e2</a:t>
            </a:r>
            <a:br>
              <a:rPr lang="es" sz="1900">
                <a:solidFill>
                  <a:schemeClr val="dk1"/>
                </a:solidFill>
              </a:rPr>
            </a:b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9879 filas × 40 columnas, sin nulos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 Clave</a:t>
            </a:r>
            <a:r>
              <a:rPr lang="e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115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Oro total y experiencia total.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Asesinatos (Kills), muertes (Deaths) y asistencias.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 neutrales: Dragones y Heraldos de la Grieta.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115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Estructuras destruidas (Torretas) y súbditos eliminados (CS).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6" title="heatmap principi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8801" y="0"/>
            <a:ext cx="931822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800"/>
              <a:t>Metodología </a:t>
            </a:r>
            <a:endParaRPr b="1" i="1" sz="2800"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311700" y="1229875"/>
            <a:ext cx="8832300" cy="3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b="1" lang="e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Limpieza</a:t>
            </a:r>
            <a:r>
              <a:rPr lang="e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Eliminación de columnas redundantes y sin peso.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●"/>
            </a:pPr>
            <a:r>
              <a:rPr b="1" lang="es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Ingeniería de Características</a:t>
            </a:r>
            <a:r>
              <a:rPr lang="e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lang="e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blueWins - Equipo Ganador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lang="e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redFirstBlood - Equipo primera sangre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lang="e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Creación de métricas de "diferencia"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-"/>
            </a:pPr>
            <a:r>
              <a:rPr lang="e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Traducción de columnas al español.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8" title="heatmapfi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0900" y="102100"/>
            <a:ext cx="7457800" cy="504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10000"/>
            <a:ext cx="8288400" cy="6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i="1" lang="es" sz="2800"/>
              <a:t>Implementación del Modelo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1229875"/>
            <a:ext cx="8520600" cy="34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Target:</a:t>
            </a:r>
            <a:r>
              <a:rPr lang="es"/>
              <a:t> </a:t>
            </a:r>
            <a:r>
              <a:rPr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equipo_ganador</a:t>
            </a:r>
            <a:endParaRPr b="1"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Algoritmos</a:t>
            </a:r>
            <a:r>
              <a:rPr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Clasificación binaria (Equipo </a:t>
            </a:r>
            <a:r>
              <a:rPr lang="es" sz="1900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azul </a:t>
            </a:r>
            <a:r>
              <a:rPr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equipo </a:t>
            </a:r>
            <a:r>
              <a:rPr lang="es" sz="19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rojo</a:t>
            </a:r>
            <a:r>
              <a:rPr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División de Datos</a:t>
            </a:r>
            <a:r>
              <a:rPr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80% para entrenamiento y 20% para prueba. Estratificación por equipo_ganador.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Escalado: </a:t>
            </a:r>
            <a:r>
              <a:rPr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Scaler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Entrenamiento</a:t>
            </a:r>
            <a:r>
              <a:rPr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Los modelos aprenden a asignar pesos a cada variable para determinar su impacto en la probabilidad de victoria.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0" title="distribución 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475" y="159802"/>
            <a:ext cx="6261149" cy="491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i="1" lang="es" sz="2800"/>
              <a:t>Modelos Utilizados</a:t>
            </a:r>
            <a:endParaRPr b="1" i="1" sz="2800"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311700" y="1229875"/>
            <a:ext cx="8520600" cy="35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Algoritmos evaluados:</a:t>
            </a:r>
            <a:endParaRPr b="1" sz="52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946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lang="es" sz="5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Supervisados: </a:t>
            </a:r>
            <a:r>
              <a:rPr lang="es" sz="5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Regresión logística, Gradient Boosting, Random Forest, AdaBoost, XGBoost, KNN, SVC, Red neuronal secuencial (Keras) y </a:t>
            </a:r>
            <a:r>
              <a:rPr lang="es" sz="525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Stacking Classifier</a:t>
            </a:r>
            <a:r>
              <a:rPr lang="es" sz="5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52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94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lang="es" sz="5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supervisados: </a:t>
            </a:r>
            <a:r>
              <a:rPr lang="es" sz="5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KMeans.</a:t>
            </a:r>
            <a:endParaRPr sz="52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5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Validación:</a:t>
            </a:r>
            <a:endParaRPr b="1" sz="52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946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lang="es" sz="5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GridSearchCV / </a:t>
            </a:r>
            <a:r>
              <a:rPr lang="es" sz="5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RandomizedSearchCV</a:t>
            </a:r>
            <a:r>
              <a:rPr lang="es" sz="5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ajuste de hiperparámetros</a:t>
            </a:r>
            <a:endParaRPr sz="52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946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-"/>
            </a:pPr>
            <a:r>
              <a:rPr lang="es" sz="5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Validación cruzada de 3-5 folds según modelo.</a:t>
            </a:r>
            <a:endParaRPr sz="52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52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Medida de valoración escogida:</a:t>
            </a:r>
            <a:r>
              <a:rPr lang="es" sz="5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" sz="5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ROC-AUC</a:t>
            </a:r>
            <a:r>
              <a:rPr lang="es" sz="5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5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porque nos interesa evaluar la calidad de las probabilidades del modelo, no solo si acierta o falla.</a:t>
            </a:r>
            <a:endParaRPr sz="52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5357"/>
              <a:buFont typeface="Arial"/>
              <a:buNone/>
            </a:pPr>
            <a:r>
              <a:rPr b="1" i="1" lang="es" sz="2800"/>
              <a:t>Resultados de los modelos</a:t>
            </a:r>
            <a:endParaRPr b="1" i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2" title="comparacion_mode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88"/>
            <a:ext cx="7841199" cy="38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800"/>
              <a:t>Stacking Classifier</a:t>
            </a:r>
            <a:endParaRPr b="1" i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base (nivel 0)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Regresión logística, SVC, XGBoost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 meta (nivel 1)</a:t>
            </a:r>
            <a:r>
              <a:rPr b="1"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Regresión logística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</a:t>
            </a:r>
            <a:r>
              <a:rPr b="1"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stacking</a:t>
            </a: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los modelos base generan predicciones que se utilizan como variables de entrada para entrenar un modelo meta, que es el encargado de realizar la predicción final.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 aprovechar complementariedad entre modelos, generaliza mejor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modelo tiene buena capacidad para asignar mayor probabilidad a las predicciones correctas que a las incorrectas.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title"/>
          </p:nvPr>
        </p:nvSpPr>
        <p:spPr>
          <a:xfrm>
            <a:off x="311700" y="704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800"/>
              <a:t>Coeficientes de Stacking</a:t>
            </a:r>
            <a:endParaRPr b="1" i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4" title="coeficient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275" y="857087"/>
            <a:ext cx="7235751" cy="408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800"/>
              <a:t>Limitaciones y mejoras</a:t>
            </a:r>
            <a:endParaRPr/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Limitaciones:</a:t>
            </a:r>
            <a:endParaRPr/>
          </a:p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Mal funcionamiento de la API de Riot Games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Solo se ve la ventaja global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Ausencia de campeones elegidos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Mejoras:</a:t>
            </a:r>
            <a:endParaRPr b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vision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Predicción por minuto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-"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Introducir los campeones y roles seleccionados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800"/>
              <a:t>Conclusiones</a:t>
            </a:r>
            <a:endParaRPr b="1" i="1" sz="2800"/>
          </a:p>
        </p:txBody>
      </p:sp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Crear </a:t>
            </a:r>
            <a:r>
              <a:rPr b="1"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nuevas variables</a:t>
            </a: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comparando los equipos ayudó al modelo a entender mejor los datos y mejorar las predicciones.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1"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Stacking </a:t>
            </a: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combina modelos complementarios, aumentando robustez y estabilidad.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modelo puede predecir resultados desde el inicio del juego con bastante precisión</a:t>
            </a:r>
            <a:r>
              <a:rPr b="1"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(ROC AUC ≈ 0.82).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modelo es </a:t>
            </a:r>
            <a:r>
              <a:rPr b="1"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generalizable</a:t>
            </a:r>
            <a:r>
              <a:rPr lang="es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refleja ventajas tempranas de forma consistente.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311700" y="8004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dk1"/>
                </a:solidFill>
              </a:rPr>
              <a:t>¡Muchas gracias por vuestra atención!</a:t>
            </a:r>
            <a:endParaRPr sz="3600">
              <a:solidFill>
                <a:schemeClr val="dk1"/>
              </a:solidFill>
            </a:endParaRPr>
          </a:p>
          <a:p>
            <a:pPr indent="457200" lvl="0" marL="2743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000"/>
          </a:p>
        </p:txBody>
      </p:sp>
      <p:pic>
        <p:nvPicPr>
          <p:cNvPr id="171" name="Google Shape;171;p27" title="League-Of-Legends-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375" y="1696250"/>
            <a:ext cx="4645251" cy="261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